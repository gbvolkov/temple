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0b5b4f471544b5" /><Relationship Type="http://schemas.openxmlformats.org/officeDocument/2006/relationships/extended-properties" Target="/docProps/app.xml" Id="Rb7768c6ad69a4b3e" /><Relationship Type="http://schemas.openxmlformats.org/officeDocument/2006/relationships/officeDocument" Target="/ppt/presentation.xml" Id="Rddc93252155d42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83c99251924693"/>
  </p:sldMasterIdLst>
  <p:notesMasterIdLst>
    <p:notesMasterId xmlns:r="http://schemas.openxmlformats.org/officeDocument/2006/relationships" r:id="Ree3bd6951ca84a69"/>
  </p:notesMasterIdLst>
  <p:sldIdLst>
    <p:sldId xmlns:r="http://schemas.openxmlformats.org/officeDocument/2006/relationships" id="256" r:id="Rda98828e1a284ca4"/>
    <p:sldId xmlns:r="http://schemas.openxmlformats.org/officeDocument/2006/relationships" id="257" r:id="R8e3529c96053447a"/>
    <p:sldId xmlns:r="http://schemas.openxmlformats.org/officeDocument/2006/relationships" id="258" r:id="R67db118e1be84cf8"/>
    <p:sldId xmlns:r="http://schemas.openxmlformats.org/officeDocument/2006/relationships" id="259" r:id="R2ab5912c3c80401c"/>
    <p:sldId xmlns:r="http://schemas.openxmlformats.org/officeDocument/2006/relationships" id="260" r:id="R64209969558f479a"/>
    <p:sldId xmlns:r="http://schemas.openxmlformats.org/officeDocument/2006/relationships" id="261" r:id="Rd5217d867f9345fb"/>
    <p:sldId xmlns:r="http://schemas.openxmlformats.org/officeDocument/2006/relationships" id="262" r:id="Rbbebe6db8e52477e"/>
    <p:sldId xmlns:r="http://schemas.openxmlformats.org/officeDocument/2006/relationships" id="263" r:id="R36ff62e405104406"/>
    <p:sldId xmlns:r="http://schemas.openxmlformats.org/officeDocument/2006/relationships" id="264" r:id="R33974d00a65d4683"/>
    <p:sldId xmlns:r="http://schemas.openxmlformats.org/officeDocument/2006/relationships" id="265" r:id="R7c3d032266894997"/>
    <p:sldId xmlns:r="http://schemas.openxmlformats.org/officeDocument/2006/relationships" id="266" r:id="R62667396b1074997"/>
    <p:sldId xmlns:r="http://schemas.openxmlformats.org/officeDocument/2006/relationships" id="267" r:id="R0eb50d3b1b1f416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0e503286c04593" /><Relationship Type="http://schemas.openxmlformats.org/officeDocument/2006/relationships/slideMaster" Target="/ppt/slideMasters/slideMaster1.xml" Id="R7f83c99251924693" /><Relationship Type="http://schemas.openxmlformats.org/officeDocument/2006/relationships/notesMaster" Target="/ppt/notesMasters/notesMaster1.xml" Id="Ree3bd6951ca84a69" /><Relationship Type="http://schemas.openxmlformats.org/officeDocument/2006/relationships/presProps" Target="/ppt/presProps.xml" Id="Rd60954b4fda34a1f" /><Relationship Type="http://schemas.openxmlformats.org/officeDocument/2006/relationships/tableStyles" Target="/ppt/tableStyles.xml" Id="R1ab6afc63275493b" /><Relationship Type="http://schemas.openxmlformats.org/officeDocument/2006/relationships/slide" Target="/ppt/slides/slide1.xml" Id="Rda98828e1a284ca4" /><Relationship Type="http://schemas.openxmlformats.org/officeDocument/2006/relationships/slide" Target="/ppt/slides/slide2.xml" Id="R8e3529c96053447a" /><Relationship Type="http://schemas.openxmlformats.org/officeDocument/2006/relationships/slide" Target="/ppt/slides/slide3.xml" Id="R67db118e1be84cf8" /><Relationship Type="http://schemas.openxmlformats.org/officeDocument/2006/relationships/slide" Target="/ppt/slides/slide4.xml" Id="R2ab5912c3c80401c" /><Relationship Type="http://schemas.openxmlformats.org/officeDocument/2006/relationships/slide" Target="/ppt/slides/slide5.xml" Id="R64209969558f479a" /><Relationship Type="http://schemas.openxmlformats.org/officeDocument/2006/relationships/slide" Target="/ppt/slides/slide6.xml" Id="Rd5217d867f9345fb" /><Relationship Type="http://schemas.openxmlformats.org/officeDocument/2006/relationships/slide" Target="/ppt/slides/slide7.xml" Id="Rbbebe6db8e52477e" /><Relationship Type="http://schemas.openxmlformats.org/officeDocument/2006/relationships/slide" Target="/ppt/slides/slide8.xml" Id="R36ff62e405104406" /><Relationship Type="http://schemas.openxmlformats.org/officeDocument/2006/relationships/slide" Target="/ppt/slides/slide9.xml" Id="R33974d00a65d4683" /><Relationship Type="http://schemas.openxmlformats.org/officeDocument/2006/relationships/slide" Target="/ppt/slides/slide10.xml" Id="R7c3d032266894997" /><Relationship Type="http://schemas.openxmlformats.org/officeDocument/2006/relationships/slide" Target="/ppt/slides/slide11.xml" Id="R62667396b1074997" /><Relationship Type="http://schemas.openxmlformats.org/officeDocument/2006/relationships/slide" Target="/ppt/slides/slide12.xml" Id="R0eb50d3b1b1f41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3a3718cea645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119556afd7435d" /><Relationship Type="http://schemas.openxmlformats.org/officeDocument/2006/relationships/notesMaster" Target="/ppt/notesMasters/notesMaster1.xml" Id="R5a810ab4795845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46142d0ea14b65" /><Relationship Type="http://schemas.openxmlformats.org/officeDocument/2006/relationships/notesMaster" Target="/ppt/notesMasters/notesMaster1.xml" Id="R69fc84e7c1494f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49cc6171f7490c" /><Relationship Type="http://schemas.openxmlformats.org/officeDocument/2006/relationships/notesMaster" Target="/ppt/notesMasters/notesMaster1.xml" Id="R2e7e1e269a1c4c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b2071be1f845f3" /><Relationship Type="http://schemas.openxmlformats.org/officeDocument/2006/relationships/notesMaster" Target="/ppt/notesMasters/notesMaster1.xml" Id="Rf4f6350e97f342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902e6cf630435e" /><Relationship Type="http://schemas.openxmlformats.org/officeDocument/2006/relationships/notesMaster" Target="/ppt/notesMasters/notesMaster1.xml" Id="Rd17370a083d341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7b4ea952d942a4" /><Relationship Type="http://schemas.openxmlformats.org/officeDocument/2006/relationships/notesMaster" Target="/ppt/notesMasters/notesMaster1.xml" Id="R2b63e1ebc1cf44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e2362fd5f74aaa" /><Relationship Type="http://schemas.openxmlformats.org/officeDocument/2006/relationships/notesMaster" Target="/ppt/notesMasters/notesMaster1.xml" Id="Rd535d766806143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9ac558a3ba454c" /><Relationship Type="http://schemas.openxmlformats.org/officeDocument/2006/relationships/notesMaster" Target="/ppt/notesMasters/notesMaster1.xml" Id="R03a103f5160445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88a1ccf9b1454f" /><Relationship Type="http://schemas.openxmlformats.org/officeDocument/2006/relationships/notesMaster" Target="/ppt/notesMasters/notesMaster1.xml" Id="R51b4c81d147446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9126adff454470" /><Relationship Type="http://schemas.openxmlformats.org/officeDocument/2006/relationships/notesMaster" Target="/ppt/notesMasters/notesMaster1.xml" Id="R22346db3156448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40394edf3d49f9" /><Relationship Type="http://schemas.openxmlformats.org/officeDocument/2006/relationships/notesMaster" Target="/ppt/notesMasters/notesMaster1.xml" Id="R0020287737d949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413e93e1c34512" /><Relationship Type="http://schemas.openxmlformats.org/officeDocument/2006/relationships/notesMaster" Target="/ppt/notesMasters/notesMaster1.xml" Id="R55e52bb2bc4a45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7747d13c5a49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0836155e6b4828" /><Relationship Type="http://schemas.openxmlformats.org/officeDocument/2006/relationships/slideLayout" Target="/ppt/slideLayouts/slideLayout1.xml" Id="R28a7ef52a1aa42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a7ef52a1aa42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d732ba55d4cc3" /><Relationship Type="http://schemas.openxmlformats.org/officeDocument/2006/relationships/notesSlide" Target="/ppt/notesSlides/notesSlide1.xml" Id="R2217ee07b4284e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d06ce06eb433f" /><Relationship Type="http://schemas.openxmlformats.org/officeDocument/2006/relationships/image" Target="/ppt/media/image.jpeg" Id="Rd4a3221d515441b4" /><Relationship Type="http://schemas.openxmlformats.org/officeDocument/2006/relationships/notesSlide" Target="/ppt/notesSlides/notesSlide2.xml" Id="R13fb8bbff2ff4f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9d8c5bca341a3" /><Relationship Type="http://schemas.openxmlformats.org/officeDocument/2006/relationships/notesSlide" Target="/ppt/notesSlides/notesSlide3.xml" Id="Rf3e06f42d13a4b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42507d92d4e08" /><Relationship Type="http://schemas.openxmlformats.org/officeDocument/2006/relationships/notesSlide" Target="/ppt/notesSlides/notesSlide4.xml" Id="R3e57020a968c47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dcf6d245e456e" /><Relationship Type="http://schemas.openxmlformats.org/officeDocument/2006/relationships/notesSlide" Target="/ppt/notesSlides/notesSlide5.xml" Id="R27ae8e840a234a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f2a660cb84428d" /><Relationship Type="http://schemas.openxmlformats.org/officeDocument/2006/relationships/notesSlide" Target="/ppt/notesSlides/notesSlide6.xml" Id="Re17321730d4f4f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f3c7579274ecc" /><Relationship Type="http://schemas.openxmlformats.org/officeDocument/2006/relationships/image" Target="/ppt/media/image2.jpeg" Id="R1b3d136244fc491c" /><Relationship Type="http://schemas.openxmlformats.org/officeDocument/2006/relationships/notesSlide" Target="/ppt/notesSlides/notesSlide7.xml" Id="R2ccc2d6b445847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a23f675a44eac" /><Relationship Type="http://schemas.openxmlformats.org/officeDocument/2006/relationships/image" Target="/ppt/media/image3.jpeg" Id="Rb7ed3c92023641d8" /><Relationship Type="http://schemas.openxmlformats.org/officeDocument/2006/relationships/notesSlide" Target="/ppt/notesSlides/notesSlide8.xml" Id="Rfcc90187c2a94a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a7c6e4d994a5d" /><Relationship Type="http://schemas.openxmlformats.org/officeDocument/2006/relationships/image" Target="/ppt/media/image4.jpeg" Id="R2c5714343a2f4df9" /><Relationship Type="http://schemas.openxmlformats.org/officeDocument/2006/relationships/notesSlide" Target="/ppt/notesSlides/notesSlide9.xml" Id="R83363b6664ef4d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50a2064c94ad6" /><Relationship Type="http://schemas.openxmlformats.org/officeDocument/2006/relationships/image" Target="/ppt/media/image5.jpeg" Id="Rdafbe959fa9a4b6c" /><Relationship Type="http://schemas.openxmlformats.org/officeDocument/2006/relationships/notesSlide" Target="/ppt/notesSlides/notesSlide10.xml" Id="R164b89358ade4a6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0382af14f4b43" /><Relationship Type="http://schemas.openxmlformats.org/officeDocument/2006/relationships/image" Target="/ppt/media/image6.jpeg" Id="R05857f9290fa4715" /><Relationship Type="http://schemas.openxmlformats.org/officeDocument/2006/relationships/image" Target="/ppt/media/image7.jpeg" Id="Rb427944903354a04" /><Relationship Type="http://schemas.openxmlformats.org/officeDocument/2006/relationships/notesSlide" Target="/ppt/notesSlides/notesSlide11.xml" Id="Rc0a4e88c099c4f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9a2228a2140f8" /><Relationship Type="http://schemas.openxmlformats.org/officeDocument/2006/relationships/notesSlide" Target="/ppt/notesSlides/notesSlide12.xml" Id="Ra68ab526e83c4f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2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ed-spine">
            <a:extLst xmlns:a="http://schemas.openxmlformats.org/drawingml/2006/main">
              <a:ext uri="{FF2B5EF4-FFF2-40B4-BE49-F238E27FC236}">
                <a16:creationId xmlns:a16="http://schemas.microsoft.com/office/drawing/2014/main" id="{D751BD27-326C-421C-8313-FDDCE35E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Визуальная система 2.0">
            <a:extLst xmlns:a="http://schemas.openxmlformats.org/drawingml/2006/main">
              <a:ext uri="{FF2B5EF4-FFF2-40B4-BE49-F238E27FC236}">
                <a16:creationId xmlns:a16="http://schemas.microsoft.com/office/drawing/2014/main" id="{73881957-2823-4CB1-B682-0FEAD707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2D8D1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2D8D1"/>
                </a:solidFill>
                <a:latin typeface="Aptos"/>
                <a:ea typeface="Aptos"/>
                <a:cs typeface="Aptos"/>
              </a:rPr>
              <a:t>ВИЗУАЛЬНАЯ СИСТЕМА 2.0</a:t>
            </a:r>
          </a:p>
        </p:txBody>
      </p:sp>
      <p:sp>
        <p:nvSpPr>
          <p:cNvPr id="3" name="title-Тишина.&#10;Свет.&#10;Присут">
            <a:extLst xmlns:a="http://schemas.openxmlformats.org/drawingml/2006/main">
              <a:ext uri="{FF2B5EF4-FFF2-40B4-BE49-F238E27FC236}">
                <a16:creationId xmlns:a16="http://schemas.microsoft.com/office/drawing/2014/main" id="{A09609F9-0203-4535-8D94-B01889E9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7239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0" b="0" i="0">
                <a:solidFill>
                  <a:srgbClr val="FFFDFA"/>
                </a:solidFill>
                <a:latin typeface="Georgia"/>
                <a:ea typeface="Georgia"/>
                <a:cs typeface="Georgia"/>
              </a:defRPr>
            </a:pPr>
            <a:r>
              <a:rPr sz="6150" b="0" i="0">
                <a:solidFill>
                  <a:srgbClr val="FFFDFA"/>
                </a:solidFill>
                <a:latin typeface="Georgia"/>
                <a:ea typeface="Georgia"/>
                <a:cs typeface="Georgia"/>
              </a:rPr>
              <a:t>Тишина.</a:t>
            </a:r>
          </a:p>
          <a:p xmlns:a="http://schemas.openxmlformats.org/drawingml/2006/main">
            <a:pPr algn="l">
              <a:defRPr sz="6150" b="0" i="0">
                <a:solidFill>
                  <a:srgbClr val="FFFDFA"/>
                </a:solidFill>
                <a:latin typeface="Georgia"/>
                <a:ea typeface="Georgia"/>
                <a:cs typeface="Georgia"/>
              </a:defRPr>
            </a:pPr>
            <a:r>
              <a:rPr sz="6150" b="0" i="0">
                <a:solidFill>
                  <a:srgbClr val="FFFDFA"/>
                </a:solidFill>
                <a:latin typeface="Georgia"/>
                <a:ea typeface="Georgia"/>
                <a:cs typeface="Georgia"/>
              </a:rPr>
              <a:t>Свет.</a:t>
            </a:r>
          </a:p>
          <a:p xmlns:a="http://schemas.openxmlformats.org/drawingml/2006/main">
            <a:pPr algn="l">
              <a:defRPr sz="6150" b="0" i="0">
                <a:solidFill>
                  <a:srgbClr val="FFFDFA"/>
                </a:solidFill>
                <a:latin typeface="Georgia"/>
                <a:ea typeface="Georgia"/>
                <a:cs typeface="Georgia"/>
              </a:defRPr>
            </a:pPr>
            <a:r>
              <a:rPr sz="6150" b="0" i="0">
                <a:solidFill>
                  <a:srgbClr val="FFFDFA"/>
                </a:solidFill>
                <a:latin typeface="Georgia"/>
                <a:ea typeface="Georgia"/>
                <a:cs typeface="Georgia"/>
              </a:rPr>
              <a:t>Присутствие.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C5C00-79C1-40B4-AB6C-B3CE37C8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C8D0D7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C8D0D7"/>
                </a:solidFill>
                <a:latin typeface="Aptos"/>
                <a:ea typeface="Aptos"/>
                <a:cs typeface="Aptos"/>
              </a:rPr>
              <a:t>Полноценная дизайн-система публичного сайта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8F491-00AD-4A5C-993E-D17C83E6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EBBC4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EBBC4"/>
                </a:solidFill>
                <a:latin typeface="Aptos"/>
                <a:ea typeface="Aptos"/>
                <a:cs typeface="Aptos"/>
              </a:rPr>
              <a:t>Июль 2026</a:t>
            </a:r>
          </a:p>
        </p:txBody>
      </p:sp>
      <p:sp>
        <p:nvSpPr>
          <p:cNvPr id="6" name="cover-arch">
            <a:extLst xmlns:a="http://schemas.openxmlformats.org/drawingml/2006/main">
              <a:ext uri="{FF2B5EF4-FFF2-40B4-BE49-F238E27FC236}">
                <a16:creationId xmlns:a16="http://schemas.microsoft.com/office/drawing/2014/main" id="{5F798F88-4EF3-44AE-87BA-DB5EBE23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000125"/>
            <a:ext cx="2095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inner-arch">
            <a:extLst xmlns:a="http://schemas.openxmlformats.org/drawingml/2006/main">
              <a:ext uri="{FF2B5EF4-FFF2-40B4-BE49-F238E27FC236}">
                <a16:creationId xmlns:a16="http://schemas.microsoft.com/office/drawing/2014/main" id="{E3E69EAB-5B26-45A5-939F-C347E9E9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81125"/>
            <a:ext cx="1333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9E87C9-1074-45ED-8A95-1D53125E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457450"/>
            <a:ext cx="104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150" b="0" i="0">
                <a:solidFill>
                  <a:srgbClr val="FFFDFA"/>
                </a:solidFill>
                <a:latin typeface="Georgia"/>
                <a:ea typeface="Georgia"/>
                <a:cs typeface="Georgia"/>
              </a:defRPr>
            </a:pPr>
            <a:r>
              <a:rPr sz="6150" b="0" i="0">
                <a:solidFill>
                  <a:srgbClr val="FFFDFA"/>
                </a:solidFill>
                <a:latin typeface="Georgia"/>
                <a:ea typeface="Georgia"/>
                <a:cs typeface="Georgia"/>
              </a:rPr>
              <a:t>✣</a:t>
            </a:r>
          </a:p>
        </p:txBody>
      </p:sp>
    </p:spTree>
    <p:extLst>
      <p:ext uri="{BB962C8B-B14F-4D97-AF65-F5344CB8AC3E}">
        <p14:creationId xmlns:p14="http://schemas.microsoft.com/office/powerpoint/2010/main" val="1579871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Решение">
            <a:extLst xmlns:a="http://schemas.openxmlformats.org/drawingml/2006/main">
              <a:ext uri="{FF2B5EF4-FFF2-40B4-BE49-F238E27FC236}">
                <a16:creationId xmlns:a16="http://schemas.microsoft.com/office/drawing/2014/main" id="{0EB16415-31C7-46D2-AEEF-927A88C3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6423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64235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2" name="title-Один экран — один&#10;см">
            <a:extLst xmlns:a="http://schemas.openxmlformats.org/drawingml/2006/main">
              <a:ext uri="{FF2B5EF4-FFF2-40B4-BE49-F238E27FC236}">
                <a16:creationId xmlns:a16="http://schemas.microsoft.com/office/drawing/2014/main" id="{0B5DF9C4-474E-4F06-AD12-1C65FCFE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4953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18222D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18222D"/>
                </a:solidFill>
                <a:latin typeface="Georgia"/>
                <a:ea typeface="Georgia"/>
                <a:cs typeface="Georgia"/>
              </a:rPr>
              <a:t>Один экран — один</a:t>
            </a:r>
          </a:p>
          <a:p xmlns:a="http://schemas.openxmlformats.org/drawingml/2006/main">
            <a:pPr algn="l">
              <a:defRPr sz="3600" b="0" i="0">
                <a:solidFill>
                  <a:srgbClr val="18222D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18222D"/>
                </a:solidFill>
                <a:latin typeface="Georgia"/>
                <a:ea typeface="Georgia"/>
                <a:cs typeface="Georgia"/>
              </a:rPr>
              <a:t>смысловой центр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05DEE-9493-4238-8B88-068DE4E9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46535E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46535E"/>
                </a:solidFill>
                <a:latin typeface="Aptos"/>
                <a:ea typeface="Aptos"/>
                <a:cs typeface="Aptos"/>
              </a:rPr>
              <a:t>Новая система строит главную вокруг фотографии, редакционного «Главного» и ближайшей службы. Остальные действия остаются доступными, но не конкурируют за внимание.</a:t>
            </a:r>
          </a:p>
        </p:txBody>
      </p:sp>
      <p:sp>
        <p:nvSpPr>
          <p:cNvPr id="4" name="home-preview-bg">
            <a:extLst xmlns:a="http://schemas.openxmlformats.org/drawingml/2006/main">
              <a:ext uri="{FF2B5EF4-FFF2-40B4-BE49-F238E27FC236}">
                <a16:creationId xmlns:a16="http://schemas.microsoft.com/office/drawing/2014/main" id="{FDE74570-A78D-4978-BB1F-3B72AB21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704850"/>
            <a:ext cx="52959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a3221d515441b4"/>
          <a:stretch xmlns:a="http://schemas.openxmlformats.org/drawingml/2006/main"/>
        </p:blipFill>
        <p:spPr>
          <a:xfrm xmlns:a="http://schemas.openxmlformats.org/drawingml/2006/main">
            <a:off x="6286500" y="1342496"/>
            <a:ext cx="5295900" cy="3677708"/>
          </a:xfrm>
          <a:prstGeom xmlns:a="http://schemas.openxmlformats.org/drawingml/2006/main" prst="rect">
            <a:avLst/>
          </a:prstGeom>
        </p:spPr>
      </p:pic>
      <p:sp>
        <p:nvSpPr>
          <p:cNvPr id="6" name="image-accent">
            <a:extLst xmlns:a="http://schemas.openxmlformats.org/drawingml/2006/main">
              <a:ext uri="{FF2B5EF4-FFF2-40B4-BE49-F238E27FC236}">
                <a16:creationId xmlns:a16="http://schemas.microsoft.com/office/drawing/2014/main" id="{4FA77F5E-179D-4CCB-86CA-8BDD0B42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791200"/>
            <a:ext cx="529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8110F-4601-410D-BAE6-585905FC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7D2F27"/>
                </a:solidFill>
                <a:latin typeface="Georgia"/>
                <a:ea typeface="Georgia"/>
                <a:cs typeface="Georgia"/>
              </a:defRPr>
            </a:pPr>
            <a:r>
              <a:rPr sz="2250" b="0" i="0">
                <a:solidFill>
                  <a:srgbClr val="7D2F27"/>
                </a:solidFill>
                <a:latin typeface="Georgia"/>
                <a:ea typeface="Georgia"/>
                <a:cs typeface="Georgia"/>
              </a:rPr>
              <a:t>Фотография сообщает. Типографика направляет. Интерфейс помогает.</a:t>
            </a:r>
          </a:p>
        </p:txBody>
      </p:sp>
      <p:sp>
        <p:nvSpPr>
          <p:cNvPr id="8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6A7CF32D-3E36-46B6-A067-B3BE1F1B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DFDFA-DB1C-433F-8EB9-27B32010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46535E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46535E"/>
                </a:solidFill>
                <a:latin typeface="Aptos"/>
                <a:ea typeface="Aptos"/>
                <a:cs typeface="Aptos"/>
              </a:rPr>
              <a:t>Храм святителя Иннокентия · дизайн-система 2.0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BC6557-F992-41B9-98AB-D1D14C45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53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8222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8222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718098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Принципы">
            <a:extLst xmlns:a="http://schemas.openxmlformats.org/drawingml/2006/main">
              <a:ext uri="{FF2B5EF4-FFF2-40B4-BE49-F238E27FC236}">
                <a16:creationId xmlns:a16="http://schemas.microsoft.com/office/drawing/2014/main" id="{D515ADE9-9125-4E47-A5DD-31034A9E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6423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64235"/>
                </a:solidFill>
                <a:latin typeface="Aptos"/>
                <a:ea typeface="Aptos"/>
                <a:cs typeface="Aptos"/>
              </a:rPr>
              <a:t>ПРИНЦИПЫ</a:t>
            </a:r>
          </a:p>
        </p:txBody>
      </p:sp>
      <p:sp>
        <p:nvSpPr>
          <p:cNvPr id="2" name="title-Система держится на ">
            <a:extLst xmlns:a="http://schemas.openxmlformats.org/drawingml/2006/main">
              <a:ext uri="{FF2B5EF4-FFF2-40B4-BE49-F238E27FC236}">
                <a16:creationId xmlns:a16="http://schemas.microsoft.com/office/drawing/2014/main" id="{42A4B519-44A9-40C6-8F50-5D74E34B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048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18222D"/>
                </a:solidFill>
                <a:latin typeface="Georgia"/>
                <a:ea typeface="Georgia"/>
                <a:cs typeface="Georgia"/>
              </a:defRPr>
            </a:pPr>
            <a:r>
              <a:rPr sz="3900" b="0" i="0">
                <a:solidFill>
                  <a:srgbClr val="18222D"/>
                </a:solidFill>
                <a:latin typeface="Georgia"/>
                <a:ea typeface="Georgia"/>
                <a:cs typeface="Georgia"/>
              </a:rPr>
              <a:t>Система держится на шести правилах</a:t>
            </a:r>
          </a:p>
        </p:txBody>
      </p:sp>
      <p:sp>
        <p:nvSpPr>
          <p:cNvPr id="3" name="p-line-0">
            <a:extLst xmlns:a="http://schemas.openxmlformats.org/drawingml/2006/main">
              <a:ext uri="{FF2B5EF4-FFF2-40B4-BE49-F238E27FC236}">
                <a16:creationId xmlns:a16="http://schemas.microsoft.com/office/drawing/2014/main" id="{B32AD7C4-2C3F-40AC-8DDD-A84D1B5E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69504-D6C8-4500-92AC-C61CC2DB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642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A6423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3C7E2-0839-4F31-A621-018CEEC5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8222D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18222D"/>
                </a:solidFill>
                <a:latin typeface="Georgia"/>
                <a:ea typeface="Georgia"/>
                <a:cs typeface="Georgia"/>
              </a:rPr>
              <a:t>Фокус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6713F-2CDB-43CE-A45D-185DDEB6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6535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46535E"/>
                </a:solidFill>
                <a:latin typeface="Aptos"/>
                <a:ea typeface="Aptos"/>
                <a:cs typeface="Aptos"/>
              </a:rPr>
              <a:t>Один доминирующий сюжет на экран.</a:t>
            </a:r>
          </a:p>
        </p:txBody>
      </p:sp>
      <p:sp>
        <p:nvSpPr>
          <p:cNvPr id="7" name="p-line-1">
            <a:extLst xmlns:a="http://schemas.openxmlformats.org/drawingml/2006/main">
              <a:ext uri="{FF2B5EF4-FFF2-40B4-BE49-F238E27FC236}">
                <a16:creationId xmlns:a16="http://schemas.microsoft.com/office/drawing/2014/main" id="{4B2553F7-8D99-44EC-9CC6-7034E191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764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6966A-87F6-4FC6-A3C2-E986005C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47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642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A6423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75842-DE21-464D-B2FB-28B92A76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8222D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18222D"/>
                </a:solidFill>
                <a:latin typeface="Georgia"/>
                <a:ea typeface="Georgia"/>
                <a:cs typeface="Georgia"/>
              </a:rPr>
              <a:t>Воздух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CF698-2C41-4CDC-80A6-610FEC1C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6535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46535E"/>
                </a:solidFill>
                <a:latin typeface="Aptos"/>
                <a:ea typeface="Aptos"/>
                <a:cs typeface="Aptos"/>
              </a:rPr>
              <a:t>Секционные поля 96–128 px.</a:t>
            </a:r>
          </a:p>
        </p:txBody>
      </p:sp>
      <p:sp>
        <p:nvSpPr>
          <p:cNvPr id="11" name="p-line-2">
            <a:extLst xmlns:a="http://schemas.openxmlformats.org/drawingml/2006/main">
              <a:ext uri="{FF2B5EF4-FFF2-40B4-BE49-F238E27FC236}">
                <a16:creationId xmlns:a16="http://schemas.microsoft.com/office/drawing/2014/main" id="{25B007E8-B0FB-47FB-ADC9-C90AB6D0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764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148AE-95C3-4C7F-8572-CC5692B0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47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642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A6423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A21FC1-0A5B-4543-8657-E96CBFBB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098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8222D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18222D"/>
                </a:solidFill>
                <a:latin typeface="Georgia"/>
                <a:ea typeface="Georgia"/>
                <a:cs typeface="Georgia"/>
              </a:rPr>
              <a:t>Документальность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D537F0-1FC0-4F6F-A45C-3A105186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861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6535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46535E"/>
                </a:solidFill>
                <a:latin typeface="Aptos"/>
                <a:ea typeface="Aptos"/>
                <a:cs typeface="Aptos"/>
              </a:rPr>
              <a:t>Только реальные фото храма и людей.</a:t>
            </a:r>
          </a:p>
        </p:txBody>
      </p:sp>
      <p:sp>
        <p:nvSpPr>
          <p:cNvPr id="15" name="p-line-3">
            <a:extLst xmlns:a="http://schemas.openxmlformats.org/drawingml/2006/main">
              <a:ext uri="{FF2B5EF4-FFF2-40B4-BE49-F238E27FC236}">
                <a16:creationId xmlns:a16="http://schemas.microsoft.com/office/drawing/2014/main" id="{700A5336-1A57-455F-A2D6-4E2E919D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82390-9D1F-4B18-809C-2CCBDFB9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642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A6423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60CAB5-2BC8-488A-970D-1815F257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8222D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18222D"/>
                </a:solidFill>
                <a:latin typeface="Georgia"/>
                <a:ea typeface="Georgia"/>
                <a:cs typeface="Georgia"/>
              </a:rPr>
              <a:t>Читаемость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574BCA-59C7-498B-855E-DB1823B2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6535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46535E"/>
                </a:solidFill>
                <a:latin typeface="Aptos"/>
                <a:ea typeface="Aptos"/>
                <a:cs typeface="Aptos"/>
              </a:rPr>
              <a:t>Текст 20 px, строка до 68 знаков.</a:t>
            </a:r>
          </a:p>
        </p:txBody>
      </p:sp>
      <p:sp>
        <p:nvSpPr>
          <p:cNvPr id="19" name="p-line-4">
            <a:extLst xmlns:a="http://schemas.openxmlformats.org/drawingml/2006/main">
              <a:ext uri="{FF2B5EF4-FFF2-40B4-BE49-F238E27FC236}">
                <a16:creationId xmlns:a16="http://schemas.microsoft.com/office/drawing/2014/main" id="{959AFA05-9A01-4BD5-8AF2-DF845A84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338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9E38C8-0C06-4486-B1B8-BB611CA2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052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642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A6423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4FF20E-1DB6-476E-ACCB-2EF5E1D2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672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8222D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18222D"/>
                </a:solidFill>
                <a:latin typeface="Georgia"/>
                <a:ea typeface="Georgia"/>
                <a:cs typeface="Georgia"/>
              </a:rPr>
              <a:t>Редакционность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4BA68A-191F-4910-88EF-4B9A4EA2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434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6535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46535E"/>
                </a:solidFill>
                <a:latin typeface="Aptos"/>
                <a:ea typeface="Aptos"/>
                <a:cs typeface="Aptos"/>
              </a:rPr>
              <a:t>«Главное» выбирает человек, не дата.</a:t>
            </a:r>
          </a:p>
        </p:txBody>
      </p:sp>
      <p:sp>
        <p:nvSpPr>
          <p:cNvPr id="23" name="p-line-5">
            <a:extLst xmlns:a="http://schemas.openxmlformats.org/drawingml/2006/main">
              <a:ext uri="{FF2B5EF4-FFF2-40B4-BE49-F238E27FC236}">
                <a16:creationId xmlns:a16="http://schemas.microsoft.com/office/drawing/2014/main" id="{F9B70182-22CD-4D63-9F1A-C198C0BE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3382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0242E5-9146-4B77-ADB0-40AB025F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052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6423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A6423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8AD05E-E4F2-4A50-8A2D-0551C871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672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8222D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18222D"/>
                </a:solidFill>
                <a:latin typeface="Georgia"/>
                <a:ea typeface="Georgia"/>
                <a:cs typeface="Georgia"/>
              </a:rPr>
              <a:t>Сдержанность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328C86-BF17-4383-99A5-1EBB1A67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434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6535E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46535E"/>
                </a:solidFill>
                <a:latin typeface="Aptos"/>
                <a:ea typeface="Aptos"/>
                <a:cs typeface="Aptos"/>
              </a:rPr>
              <a:t>Киноварь для смысла, золото — редко.</a:t>
            </a:r>
          </a:p>
        </p:txBody>
      </p:sp>
      <p:sp>
        <p:nvSpPr>
          <p:cNvPr id="27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9CAEDDD2-960D-4DDE-A5C2-A5383774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505855-43C1-407B-A9D2-5AA7EAE8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46535E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46535E"/>
                </a:solidFill>
                <a:latin typeface="Aptos"/>
                <a:ea typeface="Aptos"/>
                <a:cs typeface="Aptos"/>
              </a:rPr>
              <a:t>Храм святителя Иннокентия · дизайн-система 2.0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9FC106-0CE3-455B-878D-FFC98485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53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8222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8222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016825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Цвет">
            <a:extLst xmlns:a="http://schemas.openxmlformats.org/drawingml/2006/main">
              <a:ext uri="{FF2B5EF4-FFF2-40B4-BE49-F238E27FC236}">
                <a16:creationId xmlns:a16="http://schemas.microsoft.com/office/drawing/2014/main" id="{3E538C52-050B-411E-966B-94667070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6423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64235"/>
                </a:solidFill>
                <a:latin typeface="Aptos"/>
                <a:ea typeface="Aptos"/>
                <a:cs typeface="Aptos"/>
              </a:rPr>
              <a:t>ЦВЕТ</a:t>
            </a:r>
          </a:p>
        </p:txBody>
      </p:sp>
      <p:sp>
        <p:nvSpPr>
          <p:cNvPr id="2" name="title-Тёплая основа, точны">
            <a:extLst xmlns:a="http://schemas.openxmlformats.org/drawingml/2006/main">
              <a:ext uri="{FF2B5EF4-FFF2-40B4-BE49-F238E27FC236}">
                <a16:creationId xmlns:a16="http://schemas.microsoft.com/office/drawing/2014/main" id="{413FF28E-8376-445F-A44E-045747E8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18222D"/>
                </a:solidFill>
                <a:latin typeface="Georgia"/>
                <a:ea typeface="Georgia"/>
                <a:cs typeface="Georgia"/>
              </a:defRPr>
            </a:pPr>
            <a:r>
              <a:rPr sz="3900" b="0" i="0">
                <a:solidFill>
                  <a:srgbClr val="18222D"/>
                </a:solidFill>
                <a:latin typeface="Georgia"/>
                <a:ea typeface="Georgia"/>
                <a:cs typeface="Georgia"/>
              </a:rPr>
              <a:t>Тёплая основа, точный акцент</a:t>
            </a:r>
          </a:p>
        </p:txBody>
      </p:sp>
      <p:sp>
        <p:nvSpPr>
          <p:cNvPr id="3" name="swatch-0">
            <a:extLst xmlns:a="http://schemas.openxmlformats.org/drawingml/2006/main">
              <a:ext uri="{FF2B5EF4-FFF2-40B4-BE49-F238E27FC236}">
                <a16:creationId xmlns:a16="http://schemas.microsoft.com/office/drawing/2014/main" id="{7FE3E41F-C5D2-4C4E-8E92-6211C496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5146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DA11A-B7FF-40BF-9EAE-3E7423EC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DF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DFA"/>
                </a:solidFill>
                <a:latin typeface="Aptos"/>
                <a:ea typeface="Aptos"/>
                <a:cs typeface="Aptos"/>
              </a:rPr>
              <a:t>Чернильный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0F466-D1DB-4D64-AC3F-52AECB11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DE4E9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DE4E9"/>
                </a:solidFill>
                <a:latin typeface="Aptos"/>
                <a:ea typeface="Aptos"/>
                <a:cs typeface="Aptos"/>
              </a:rPr>
              <a:t>#18222D · Текст · подвал</a:t>
            </a:r>
          </a:p>
        </p:txBody>
      </p:sp>
      <p:sp>
        <p:nvSpPr>
          <p:cNvPr id="6" name="swatch-1">
            <a:extLst xmlns:a="http://schemas.openxmlformats.org/drawingml/2006/main">
              <a:ext uri="{FF2B5EF4-FFF2-40B4-BE49-F238E27FC236}">
                <a16:creationId xmlns:a16="http://schemas.microsoft.com/office/drawing/2014/main" id="{83883197-789C-43B0-AE91-09EE00FE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25146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9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D3C59-FDD4-4D49-959A-4EAA859D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10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222D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8222D"/>
                </a:solidFill>
                <a:latin typeface="Aptos"/>
                <a:ea typeface="Aptos"/>
                <a:cs typeface="Aptos"/>
              </a:rPr>
              <a:t>Тёплая бумага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E8EC6F-D5A1-4F00-BEB0-8EB7676E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291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6535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6535E"/>
                </a:solidFill>
                <a:latin typeface="Aptos"/>
                <a:ea typeface="Aptos"/>
                <a:cs typeface="Aptos"/>
              </a:rPr>
              <a:t>#F5F1E9 · Основной фон</a:t>
            </a:r>
          </a:p>
        </p:txBody>
      </p:sp>
      <p:sp>
        <p:nvSpPr>
          <p:cNvPr id="9" name="swatch-2">
            <a:extLst xmlns:a="http://schemas.openxmlformats.org/drawingml/2006/main">
              <a:ext uri="{FF2B5EF4-FFF2-40B4-BE49-F238E27FC236}">
                <a16:creationId xmlns:a16="http://schemas.microsoft.com/office/drawing/2014/main" id="{5FE1486A-8D86-47C9-9569-310EF04E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5146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D2D1D-00FA-4CA3-BC68-8DE0C854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10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DF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DFA"/>
                </a:solidFill>
                <a:latin typeface="Aptos"/>
                <a:ea typeface="Aptos"/>
                <a:cs typeface="Aptos"/>
              </a:rPr>
              <a:t>Киноварь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57D0E5-6691-4324-BDF9-A40E9BF0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291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DE4E9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DE4E9"/>
                </a:solidFill>
                <a:latin typeface="Aptos"/>
                <a:ea typeface="Aptos"/>
                <a:cs typeface="Aptos"/>
              </a:rPr>
              <a:t>#A64235 · Главное · CTA</a:t>
            </a:r>
          </a:p>
        </p:txBody>
      </p:sp>
      <p:sp>
        <p:nvSpPr>
          <p:cNvPr id="12" name="swatch-3">
            <a:extLst xmlns:a="http://schemas.openxmlformats.org/drawingml/2006/main">
              <a:ext uri="{FF2B5EF4-FFF2-40B4-BE49-F238E27FC236}">
                <a16:creationId xmlns:a16="http://schemas.microsoft.com/office/drawing/2014/main" id="{692284BD-D03C-4AD7-83F2-FD23ECED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25146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C8009-E94F-4726-8159-4148829C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10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DF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DFA"/>
                </a:solidFill>
                <a:latin typeface="Aptos"/>
                <a:ea typeface="Aptos"/>
                <a:cs typeface="Aptos"/>
              </a:rPr>
              <a:t>Небесный синий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D78C20-EBF4-4C81-BF17-062A2BED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291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DE4E9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DE4E9"/>
                </a:solidFill>
                <a:latin typeface="Aptos"/>
                <a:ea typeface="Aptos"/>
                <a:cs typeface="Aptos"/>
              </a:rPr>
              <a:t>#315C78 · Информация</a:t>
            </a:r>
          </a:p>
        </p:txBody>
      </p:sp>
      <p:sp>
        <p:nvSpPr>
          <p:cNvPr id="15" name="support-0">
            <a:extLst xmlns:a="http://schemas.openxmlformats.org/drawingml/2006/main">
              <a:ext uri="{FF2B5EF4-FFF2-40B4-BE49-F238E27FC236}">
                <a16:creationId xmlns:a16="http://schemas.microsoft.com/office/drawing/2014/main" id="{23F6009E-8E5C-410B-8819-C351D686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2514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74BAEC-C1B5-4ED4-A460-DA2B9C3D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8222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8222D"/>
                </a:solidFill>
                <a:latin typeface="Aptos"/>
                <a:ea typeface="Aptos"/>
                <a:cs typeface="Aptos"/>
              </a:rPr>
              <a:t>Белый</a:t>
            </a:r>
          </a:p>
        </p:txBody>
      </p:sp>
      <p:sp>
        <p:nvSpPr>
          <p:cNvPr id="17" name="support-1">
            <a:extLst xmlns:a="http://schemas.openxmlformats.org/drawingml/2006/main">
              <a:ext uri="{FF2B5EF4-FFF2-40B4-BE49-F238E27FC236}">
                <a16:creationId xmlns:a16="http://schemas.microsoft.com/office/drawing/2014/main" id="{2E6161A6-5820-4330-8555-135940F2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048250"/>
            <a:ext cx="2514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2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0D6704-EB89-4E36-8325-B2945164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219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8222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8222D"/>
                </a:solidFill>
                <a:latin typeface="Aptos"/>
                <a:ea typeface="Aptos"/>
                <a:cs typeface="Aptos"/>
              </a:rPr>
              <a:t>Камень</a:t>
            </a:r>
          </a:p>
        </p:txBody>
      </p:sp>
      <p:sp>
        <p:nvSpPr>
          <p:cNvPr id="19" name="support-2">
            <a:extLst xmlns:a="http://schemas.openxmlformats.org/drawingml/2006/main">
              <a:ext uri="{FF2B5EF4-FFF2-40B4-BE49-F238E27FC236}">
                <a16:creationId xmlns:a16="http://schemas.microsoft.com/office/drawing/2014/main" id="{DEBF16D9-3760-44A3-97E8-9B6EEA0F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48250"/>
            <a:ext cx="2514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E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9F2E65-9220-4E18-B07B-F2788C66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19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8222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8222D"/>
                </a:solidFill>
                <a:latin typeface="Aptos"/>
                <a:ea typeface="Aptos"/>
                <a:cs typeface="Aptos"/>
              </a:rPr>
              <a:t>Светлое небо</a:t>
            </a:r>
          </a:p>
        </p:txBody>
      </p:sp>
      <p:sp>
        <p:nvSpPr>
          <p:cNvPr id="21" name="support-3">
            <a:extLst xmlns:a="http://schemas.openxmlformats.org/drawingml/2006/main">
              <a:ext uri="{FF2B5EF4-FFF2-40B4-BE49-F238E27FC236}">
                <a16:creationId xmlns:a16="http://schemas.microsoft.com/office/drawing/2014/main" id="{31953A0A-66D7-4474-BE5A-8532C53A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048250"/>
            <a:ext cx="2514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90E5E1-7152-4CAD-8531-D8766D76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219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DF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A"/>
                </a:solidFill>
                <a:latin typeface="Aptos"/>
                <a:ea typeface="Aptos"/>
                <a:cs typeface="Aptos"/>
              </a:rPr>
              <a:t>Золото</a:t>
            </a:r>
          </a:p>
        </p:txBody>
      </p:sp>
      <p:sp>
        <p:nvSpPr>
          <p:cNvPr id="23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6CB446ED-098A-48E6-AF11-5BFE93D1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CB3DEF-8F81-4E9E-84E3-F00BD9F0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46535E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46535E"/>
                </a:solidFill>
                <a:latin typeface="Aptos"/>
                <a:ea typeface="Aptos"/>
                <a:cs typeface="Aptos"/>
              </a:rPr>
              <a:t>Храм святителя Иннокентия · дизайн-система 2.0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D971F3-30DE-44E9-A4F4-A4CA7265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53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8222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8222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535910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Типографика">
            <a:extLst xmlns:a="http://schemas.openxmlformats.org/drawingml/2006/main">
              <a:ext uri="{FF2B5EF4-FFF2-40B4-BE49-F238E27FC236}">
                <a16:creationId xmlns:a16="http://schemas.microsoft.com/office/drawing/2014/main" id="{5DBDC040-E69C-4C07-B091-3396CDE5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6423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64235"/>
                </a:solidFill>
                <a:latin typeface="Aptos"/>
                <a:ea typeface="Aptos"/>
                <a:cs typeface="Aptos"/>
              </a:rPr>
              <a:t>ТИПОГРАФИКА</a:t>
            </a:r>
          </a:p>
        </p:txBody>
      </p:sp>
      <p:sp>
        <p:nvSpPr>
          <p:cNvPr id="2" name="title-Крупно — значит уваж">
            <a:extLst xmlns:a="http://schemas.openxmlformats.org/drawingml/2006/main">
              <a:ext uri="{FF2B5EF4-FFF2-40B4-BE49-F238E27FC236}">
                <a16:creationId xmlns:a16="http://schemas.microsoft.com/office/drawing/2014/main" id="{5861A75F-A74E-439A-8828-17747A62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38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18222D"/>
                </a:solidFill>
                <a:latin typeface="Georgia"/>
                <a:ea typeface="Georgia"/>
                <a:cs typeface="Georgia"/>
              </a:defRPr>
            </a:pPr>
            <a:r>
              <a:rPr sz="3900" b="0" i="0">
                <a:solidFill>
                  <a:srgbClr val="18222D"/>
                </a:solidFill>
                <a:latin typeface="Georgia"/>
                <a:ea typeface="Georgia"/>
                <a:cs typeface="Georgia"/>
              </a:rPr>
              <a:t>Крупно — значит уважительно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E29DA-7058-465D-B892-C86D9950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6423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A64235"/>
                </a:solidFill>
                <a:latin typeface="Aptos"/>
                <a:ea typeface="Aptos"/>
                <a:cs typeface="Aptos"/>
              </a:rPr>
              <a:t>Georgia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49514-D591-4CAF-9152-0F3EF41D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647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0" i="0">
                <a:solidFill>
                  <a:srgbClr val="18222D"/>
                </a:solidFill>
                <a:latin typeface="Georgia"/>
                <a:ea typeface="Georgia"/>
                <a:cs typeface="Georgia"/>
              </a:defRPr>
            </a:pPr>
            <a:r>
              <a:rPr sz="4800" b="0" i="0">
                <a:solidFill>
                  <a:srgbClr val="18222D"/>
                </a:solidFill>
                <a:latin typeface="Georgia"/>
                <a:ea typeface="Georgia"/>
                <a:cs typeface="Georgia"/>
              </a:rPr>
              <a:t>Святитель</a:t>
            </a:r>
          </a:p>
          <a:p xmlns:a="http://schemas.openxmlformats.org/drawingml/2006/main">
            <a:pPr algn="l">
              <a:defRPr sz="4800" b="0" i="0">
                <a:solidFill>
                  <a:srgbClr val="18222D"/>
                </a:solidFill>
                <a:latin typeface="Georgia"/>
                <a:ea typeface="Georgia"/>
                <a:cs typeface="Georgia"/>
              </a:defRPr>
            </a:pPr>
            <a:r>
              <a:rPr sz="4800" b="0" i="0">
                <a:solidFill>
                  <a:srgbClr val="18222D"/>
                </a:solidFill>
                <a:latin typeface="Georgia"/>
                <a:ea typeface="Georgia"/>
                <a:cs typeface="Georgia"/>
              </a:rPr>
              <a:t>Иннокентий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1F324-6C67-46E3-BD2C-430C5EA3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764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64235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A64235"/>
                </a:solidFill>
                <a:latin typeface="Aptos"/>
                <a:ea typeface="Aptos"/>
                <a:cs typeface="Aptos"/>
              </a:rPr>
              <a:t>Segoe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43C22-9821-459E-A23C-634D9C7C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955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8222D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8222D"/>
                </a:solidFill>
                <a:latin typeface="Aptos"/>
                <a:ea typeface="Aptos"/>
                <a:cs typeface="Aptos"/>
              </a:rPr>
              <a:t>Расписание богослужений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F55128-3F75-4357-9063-289B26B0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90900"/>
            <a:ext cx="3810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46535E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46535E"/>
                </a:solidFill>
                <a:latin typeface="Aptos"/>
                <a:ea typeface="Aptos"/>
                <a:cs typeface="Aptos"/>
              </a:rPr>
              <a:t>В храме легко узнать время ближайшей службы и найти всё необходимое перед посещением.</a:t>
            </a:r>
          </a:p>
        </p:txBody>
      </p:sp>
      <p:sp>
        <p:nvSpPr>
          <p:cNvPr id="8" name="type-rule">
            <a:extLst xmlns:a="http://schemas.openxmlformats.org/drawingml/2006/main">
              <a:ext uri="{FF2B5EF4-FFF2-40B4-BE49-F238E27FC236}">
                <a16:creationId xmlns:a16="http://schemas.microsoft.com/office/drawing/2014/main" id="{A5C1DBC0-4CE4-45CD-BD1C-B6F75387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3887EE-7B7C-45DD-98DA-9E2FFA0D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6535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6535E"/>
                </a:solidFill>
                <a:latin typeface="Aptos"/>
                <a:ea typeface="Aptos"/>
                <a:cs typeface="Aptos"/>
              </a:rPr>
              <a:t>Hero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3ECE91-5E00-4937-BAE8-051E7A5F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8222D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8222D"/>
                </a:solidFill>
                <a:latin typeface="Georgia"/>
                <a:ea typeface="Georgia"/>
                <a:cs typeface="Georgia"/>
              </a:rPr>
              <a:t>96–112 px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1C7A00-ABC3-4E0F-8904-FA63DE5B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0673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6535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6535E"/>
                </a:solidFill>
                <a:latin typeface="Aptos"/>
                <a:ea typeface="Aptos"/>
                <a:cs typeface="Aptos"/>
              </a:rPr>
              <a:t>H1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A59785-C12D-4FD1-848B-1107F24A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334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8222D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8222D"/>
                </a:solidFill>
                <a:latin typeface="Georgia"/>
                <a:ea typeface="Georgia"/>
                <a:cs typeface="Georgia"/>
              </a:rPr>
              <a:t>72–88 px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141D9D-99BA-4DA5-84C2-698303EC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673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6535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6535E"/>
                </a:solidFill>
                <a:latin typeface="Aptos"/>
                <a:ea typeface="Aptos"/>
                <a:cs typeface="Aptos"/>
              </a:rPr>
              <a:t>H2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129E5E-95FF-48B7-80EE-02A311C6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34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8222D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8222D"/>
                </a:solidFill>
                <a:latin typeface="Georgia"/>
                <a:ea typeface="Georgia"/>
                <a:cs typeface="Georgia"/>
              </a:rPr>
              <a:t>56–72 px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96647E-2E75-4453-B681-1B1A645A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673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6535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6535E"/>
                </a:solidFill>
                <a:latin typeface="Aptos"/>
                <a:ea typeface="Aptos"/>
                <a:cs typeface="Aptos"/>
              </a:rPr>
              <a:t>Body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3CAF6F-C4DF-416E-B41E-8DFCE917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34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8222D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8222D"/>
                </a:solidFill>
                <a:latin typeface="Georgia"/>
                <a:ea typeface="Georgia"/>
                <a:cs typeface="Georgia"/>
              </a:rPr>
              <a:t>20 px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1ECA62-A993-4550-A51F-F7FB3AE3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673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6535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6535E"/>
                </a:solidFill>
                <a:latin typeface="Aptos"/>
                <a:ea typeface="Aptos"/>
                <a:cs typeface="Aptos"/>
              </a:rPr>
              <a:t>Menu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498B82-4F04-4380-9081-B506B586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334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8222D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8222D"/>
                </a:solidFill>
                <a:latin typeface="Georgia"/>
                <a:ea typeface="Georgia"/>
                <a:cs typeface="Georgia"/>
              </a:rPr>
              <a:t>17–18 px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CD35C4-FE84-4255-A9E2-1F591E8B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0673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6535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6535E"/>
                </a:solidFill>
                <a:latin typeface="Aptos"/>
                <a:ea typeface="Aptos"/>
                <a:cs typeface="Aptos"/>
              </a:rPr>
              <a:t>Caption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679076-0E8D-4C2D-BA11-2EB7047A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334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8222D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8222D"/>
                </a:solidFill>
                <a:latin typeface="Georgia"/>
                <a:ea typeface="Georgia"/>
                <a:cs typeface="Georgia"/>
              </a:rPr>
              <a:t>14–15 px</a:t>
            </a:r>
          </a:p>
        </p:txBody>
      </p:sp>
      <p:sp>
        <p:nvSpPr>
          <p:cNvPr id="21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38F6EF78-E470-42B8-8614-F699E495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0951C0-7428-4086-BD04-B6B25E45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46535E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46535E"/>
                </a:solidFill>
                <a:latin typeface="Aptos"/>
                <a:ea typeface="Aptos"/>
                <a:cs typeface="Aptos"/>
              </a:rPr>
              <a:t>Храм святителя Иннокентия · дизайн-система 2.0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17A08A-A30E-461B-B9FB-25F48D04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53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8222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8222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267083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822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Сетка и ритм">
            <a:extLst xmlns:a="http://schemas.openxmlformats.org/drawingml/2006/main">
              <a:ext uri="{FF2B5EF4-FFF2-40B4-BE49-F238E27FC236}">
                <a16:creationId xmlns:a16="http://schemas.microsoft.com/office/drawing/2014/main" id="{66775215-C8C5-4EC8-BB2E-10335351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2D8D1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2D8D1"/>
                </a:solidFill>
                <a:latin typeface="Aptos"/>
                <a:ea typeface="Aptos"/>
                <a:cs typeface="Aptos"/>
              </a:rPr>
              <a:t>СЕТКА И РИТМ</a:t>
            </a:r>
          </a:p>
        </p:txBody>
      </p:sp>
      <p:sp>
        <p:nvSpPr>
          <p:cNvPr id="2" name="title-12 колонок. Восемь ш">
            <a:extLst xmlns:a="http://schemas.openxmlformats.org/drawingml/2006/main">
              <a:ext uri="{FF2B5EF4-FFF2-40B4-BE49-F238E27FC236}">
                <a16:creationId xmlns:a16="http://schemas.microsoft.com/office/drawing/2014/main" id="{461A916B-467B-46D5-8A84-BE41CCBE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FFFDFA"/>
                </a:solidFill>
                <a:latin typeface="Georgia"/>
                <a:ea typeface="Georgia"/>
                <a:cs typeface="Georgia"/>
              </a:defRPr>
            </a:pPr>
            <a:r>
              <a:rPr sz="3900" b="0" i="0">
                <a:solidFill>
                  <a:srgbClr val="FFFDFA"/>
                </a:solidFill>
                <a:latin typeface="Georgia"/>
                <a:ea typeface="Georgia"/>
                <a:cs typeface="Georgia"/>
              </a:rPr>
              <a:t>12 колонок. Восемь шагов.</a:t>
            </a:r>
          </a:p>
        </p:txBody>
      </p:sp>
      <p:sp>
        <p:nvSpPr>
          <p:cNvPr id="3" name="grid-col-0">
            <a:extLst xmlns:a="http://schemas.openxmlformats.org/drawingml/2006/main">
              <a:ext uri="{FF2B5EF4-FFF2-40B4-BE49-F238E27FC236}">
                <a16:creationId xmlns:a16="http://schemas.microsoft.com/office/drawing/2014/main" id="{B2D3A610-B3BC-47C8-9A89-E1CCDF92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781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col-1">
            <a:extLst xmlns:a="http://schemas.openxmlformats.org/drawingml/2006/main">
              <a:ext uri="{FF2B5EF4-FFF2-40B4-BE49-F238E27FC236}">
                <a16:creationId xmlns:a16="http://schemas.microsoft.com/office/drawing/2014/main" id="{1040C83F-2D6E-46DB-AC21-FF0537C3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00250"/>
            <a:ext cx="781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col-2">
            <a:extLst xmlns:a="http://schemas.openxmlformats.org/drawingml/2006/main">
              <a:ext uri="{FF2B5EF4-FFF2-40B4-BE49-F238E27FC236}">
                <a16:creationId xmlns:a16="http://schemas.microsoft.com/office/drawing/2014/main" id="{74417CB9-E97D-4310-B5B0-4B370B05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00250"/>
            <a:ext cx="781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col-3">
            <a:extLst xmlns:a="http://schemas.openxmlformats.org/drawingml/2006/main">
              <a:ext uri="{FF2B5EF4-FFF2-40B4-BE49-F238E27FC236}">
                <a16:creationId xmlns:a16="http://schemas.microsoft.com/office/drawing/2014/main" id="{02542171-A964-4214-AF65-A760CDA5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781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col-4">
            <a:extLst xmlns:a="http://schemas.openxmlformats.org/drawingml/2006/main">
              <a:ext uri="{FF2B5EF4-FFF2-40B4-BE49-F238E27FC236}">
                <a16:creationId xmlns:a16="http://schemas.microsoft.com/office/drawing/2014/main" id="{3E892B33-9260-4D71-8192-EC4E4324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00250"/>
            <a:ext cx="781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col-5">
            <a:extLst xmlns:a="http://schemas.openxmlformats.org/drawingml/2006/main">
              <a:ext uri="{FF2B5EF4-FFF2-40B4-BE49-F238E27FC236}">
                <a16:creationId xmlns:a16="http://schemas.microsoft.com/office/drawing/2014/main" id="{F445B6FE-2E47-40E2-8E18-94FBA55E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00250"/>
            <a:ext cx="781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col-6">
            <a:extLst xmlns:a="http://schemas.openxmlformats.org/drawingml/2006/main">
              <a:ext uri="{FF2B5EF4-FFF2-40B4-BE49-F238E27FC236}">
                <a16:creationId xmlns:a16="http://schemas.microsoft.com/office/drawing/2014/main" id="{DE7BF752-CE19-47F6-903D-450037BF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00250"/>
            <a:ext cx="781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col-7">
            <a:extLst xmlns:a="http://schemas.openxmlformats.org/drawingml/2006/main">
              <a:ext uri="{FF2B5EF4-FFF2-40B4-BE49-F238E27FC236}">
                <a16:creationId xmlns:a16="http://schemas.microsoft.com/office/drawing/2014/main" id="{22BAA5EE-1EA4-4840-9C8A-7BE32D39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00250"/>
            <a:ext cx="781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col-8">
            <a:extLst xmlns:a="http://schemas.openxmlformats.org/drawingml/2006/main">
              <a:ext uri="{FF2B5EF4-FFF2-40B4-BE49-F238E27FC236}">
                <a16:creationId xmlns:a16="http://schemas.microsoft.com/office/drawing/2014/main" id="{A806E2FB-6B82-4502-906E-81D709FA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00250"/>
            <a:ext cx="781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col-9">
            <a:extLst xmlns:a="http://schemas.openxmlformats.org/drawingml/2006/main">
              <a:ext uri="{FF2B5EF4-FFF2-40B4-BE49-F238E27FC236}">
                <a16:creationId xmlns:a16="http://schemas.microsoft.com/office/drawing/2014/main" id="{3C51FF04-1DB4-41BA-A60A-74F3357A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00250"/>
            <a:ext cx="781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col-10">
            <a:extLst xmlns:a="http://schemas.openxmlformats.org/drawingml/2006/main">
              <a:ext uri="{FF2B5EF4-FFF2-40B4-BE49-F238E27FC236}">
                <a16:creationId xmlns:a16="http://schemas.microsoft.com/office/drawing/2014/main" id="{1EC8F133-5F44-4E4C-A45D-B77A9641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00250"/>
            <a:ext cx="781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col-11">
            <a:extLst xmlns:a="http://schemas.openxmlformats.org/drawingml/2006/main">
              <a:ext uri="{FF2B5EF4-FFF2-40B4-BE49-F238E27FC236}">
                <a16:creationId xmlns:a16="http://schemas.microsoft.com/office/drawing/2014/main" id="{A847A439-6620-4C86-89C0-4B20F165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000250"/>
            <a:ext cx="781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A7AD24-6D92-4415-8219-E6258A35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D3DCE2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D3DCE2"/>
                </a:solidFill>
                <a:latin typeface="Aptos"/>
                <a:ea typeface="Aptos"/>
                <a:cs typeface="Aptos"/>
              </a:rPr>
              <a:t>Контентная ширина 1320 px · базовый шаг 8 px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68A9B8-35F9-494E-BDC5-DBAD0CED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DFA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7" name="space-8">
            <a:extLst xmlns:a="http://schemas.openxmlformats.org/drawingml/2006/main">
              <a:ext uri="{FF2B5EF4-FFF2-40B4-BE49-F238E27FC236}">
                <a16:creationId xmlns:a16="http://schemas.microsoft.com/office/drawing/2014/main" id="{3368F50B-3AF1-4300-BCD2-9946DF18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531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B45FCB-57E0-474D-8DB1-BE6D238B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769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DFA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9" name="space-16">
            <a:extLst xmlns:a="http://schemas.openxmlformats.org/drawingml/2006/main">
              <a:ext uri="{FF2B5EF4-FFF2-40B4-BE49-F238E27FC236}">
                <a16:creationId xmlns:a16="http://schemas.microsoft.com/office/drawing/2014/main" id="{E1EF6ADD-81F2-4979-94A2-8899056C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753100"/>
            <a:ext cx="152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010F4A-EFF0-4F3A-9683-BCBE3986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6769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DFA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21" name="space-24">
            <a:extLst xmlns:a="http://schemas.openxmlformats.org/drawingml/2006/main">
              <a:ext uri="{FF2B5EF4-FFF2-40B4-BE49-F238E27FC236}">
                <a16:creationId xmlns:a16="http://schemas.microsoft.com/office/drawing/2014/main" id="{4510D1B5-4371-4692-AE79-C260D2D7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753100"/>
            <a:ext cx="228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6137E2-B6C5-45BF-8E60-B15172D1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6769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DFA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23" name="space-48">
            <a:extLst xmlns:a="http://schemas.openxmlformats.org/drawingml/2006/main">
              <a:ext uri="{FF2B5EF4-FFF2-40B4-BE49-F238E27FC236}">
                <a16:creationId xmlns:a16="http://schemas.microsoft.com/office/drawing/2014/main" id="{311E48EC-4A3F-41E9-88B5-8A9B5C58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753100"/>
            <a:ext cx="457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E9B608-1258-434A-AAE5-6FA6FA7D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6769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DFA"/>
                </a:solidFill>
                <a:latin typeface="Aptos"/>
                <a:ea typeface="Aptos"/>
                <a:cs typeface="Aptos"/>
              </a:rPr>
              <a:t>96</a:t>
            </a:r>
          </a:p>
        </p:txBody>
      </p:sp>
      <p:sp>
        <p:nvSpPr>
          <p:cNvPr id="25" name="space-96">
            <a:extLst xmlns:a="http://schemas.openxmlformats.org/drawingml/2006/main">
              <a:ext uri="{FF2B5EF4-FFF2-40B4-BE49-F238E27FC236}">
                <a16:creationId xmlns:a16="http://schemas.microsoft.com/office/drawing/2014/main" id="{FDEF02A1-732B-479A-837B-7CA3C4EC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753100"/>
            <a:ext cx="914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A72165-956B-418E-B1A4-7EBD8925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6769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DF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DFA"/>
                </a:solidFill>
                <a:latin typeface="Aptos"/>
                <a:ea typeface="Aptos"/>
                <a:cs typeface="Aptos"/>
              </a:rPr>
              <a:t>128</a:t>
            </a:r>
          </a:p>
        </p:txBody>
      </p:sp>
      <p:sp>
        <p:nvSpPr>
          <p:cNvPr id="27" name="space-128">
            <a:extLst xmlns:a="http://schemas.openxmlformats.org/drawingml/2006/main">
              <a:ext uri="{FF2B5EF4-FFF2-40B4-BE49-F238E27FC236}">
                <a16:creationId xmlns:a16="http://schemas.microsoft.com/office/drawing/2014/main" id="{44F44FD7-597B-4F9C-B0ED-91099CBA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753100"/>
            <a:ext cx="1219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87CF229A-A455-4535-BD0F-DEB55A5E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1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0B7823-37CE-46E8-BF2F-8F716D32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AEBBC4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AEBBC4"/>
                </a:solidFill>
                <a:latin typeface="Aptos"/>
                <a:ea typeface="Aptos"/>
                <a:cs typeface="Aptos"/>
              </a:rPr>
              <a:t>Храм святителя Иннокентия · дизайн-система 2.0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4F5CC8-AF1E-42C7-A063-9AE287F0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53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FFFDF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DF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141159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Навигация">
            <a:extLst xmlns:a="http://schemas.openxmlformats.org/drawingml/2006/main">
              <a:ext uri="{FF2B5EF4-FFF2-40B4-BE49-F238E27FC236}">
                <a16:creationId xmlns:a16="http://schemas.microsoft.com/office/drawing/2014/main" id="{01E95839-CE9B-4AB5-A073-50CF48DC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6423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64235"/>
                </a:solidFill>
                <a:latin typeface="Aptos"/>
                <a:ea typeface="Aptos"/>
                <a:cs typeface="Aptos"/>
              </a:rPr>
              <a:t>НАВИГАЦИЯ</a:t>
            </a:r>
          </a:p>
        </p:txBody>
      </p:sp>
      <p:sp>
        <p:nvSpPr>
          <p:cNvPr id="2" name="title-Пять разделов. Без л">
            <a:extLst xmlns:a="http://schemas.openxmlformats.org/drawingml/2006/main">
              <a:ext uri="{FF2B5EF4-FFF2-40B4-BE49-F238E27FC236}">
                <a16:creationId xmlns:a16="http://schemas.microsoft.com/office/drawing/2014/main" id="{F9F2D25B-A7E6-41C5-986D-686CC456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09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0" i="0">
                <a:solidFill>
                  <a:srgbClr val="18222D"/>
                </a:solidFill>
                <a:latin typeface="Georgia"/>
                <a:ea typeface="Georgia"/>
                <a:cs typeface="Georgia"/>
              </a:defRPr>
            </a:pPr>
            <a:r>
              <a:rPr sz="3750" b="0" i="0">
                <a:solidFill>
                  <a:srgbClr val="18222D"/>
                </a:solidFill>
                <a:latin typeface="Georgia"/>
                <a:ea typeface="Georgia"/>
                <a:cs typeface="Georgia"/>
              </a:rPr>
              <a:t>Пять разделов. Без лабиринта.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91A1B-9AD9-4E53-8078-69D248A4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46535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46535E"/>
                </a:solidFill>
                <a:latin typeface="Aptos"/>
                <a:ea typeface="Aptos"/>
                <a:cs typeface="Aptos"/>
              </a:rPr>
              <a:t>Большая структура раскрывается внутри мегаменю. Частые действия — отдельно и всегда на виду.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d136244fc491c"/>
          <a:stretch xmlns:a="http://schemas.openxmlformats.org/drawingml/2006/main"/>
        </p:blipFill>
        <p:spPr>
          <a:xfrm xmlns:a="http://schemas.openxmlformats.org/drawingml/2006/main">
            <a:off x="609600" y="2579890"/>
            <a:ext cx="10972800" cy="3050771"/>
          </a:xfrm>
          <a:prstGeom xmlns:a="http://schemas.openxmlformats.org/drawingml/2006/main" prst="rect">
            <a:avLst/>
          </a:prstGeom>
        </p:spPr>
      </p:pic>
      <p:sp>
        <p:nvSpPr>
          <p:cNvPr id="5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5BF06E29-AA69-453E-A936-A3DC7148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6081F-34BD-42DA-904B-164AB5D6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46535E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46535E"/>
                </a:solidFill>
                <a:latin typeface="Aptos"/>
                <a:ea typeface="Aptos"/>
                <a:cs typeface="Aptos"/>
              </a:rPr>
              <a:t>Храм святителя Иннокентия · дизайн-система 2.0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6B413-0BE5-4089-9C9D-C71E16C5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53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8222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8222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512644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822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Mobile">
            <a:extLst xmlns:a="http://schemas.openxmlformats.org/drawingml/2006/main">
              <a:ext uri="{FF2B5EF4-FFF2-40B4-BE49-F238E27FC236}">
                <a16:creationId xmlns:a16="http://schemas.microsoft.com/office/drawing/2014/main" id="{3FBEC1C6-DBE2-4133-8E1A-B6689703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2D8D1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2D8D1"/>
                </a:solidFill>
                <a:latin typeface="Aptos"/>
                <a:ea typeface="Aptos"/>
                <a:cs typeface="Aptos"/>
              </a:rPr>
              <a:t>MOBILE</a:t>
            </a:r>
          </a:p>
        </p:txBody>
      </p:sp>
      <p:sp>
        <p:nvSpPr>
          <p:cNvPr id="2" name="title-Первый экран сохраня">
            <a:extLst xmlns:a="http://schemas.openxmlformats.org/drawingml/2006/main">
              <a:ext uri="{FF2B5EF4-FFF2-40B4-BE49-F238E27FC236}">
                <a16:creationId xmlns:a16="http://schemas.microsoft.com/office/drawing/2014/main" id="{E6405152-B85B-4C73-946B-58930B58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FFFDFA"/>
                </a:solidFill>
                <a:latin typeface="Georgia"/>
                <a:ea typeface="Georgia"/>
                <a:cs typeface="Georgia"/>
              </a:defRPr>
            </a:pPr>
            <a:r>
              <a:rPr sz="3900" b="0" i="0">
                <a:solidFill>
                  <a:srgbClr val="FFFDFA"/>
                </a:solidFill>
                <a:latin typeface="Georgia"/>
                <a:ea typeface="Georgia"/>
                <a:cs typeface="Georgia"/>
              </a:rPr>
              <a:t>Первый экран сохраняет фокус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631B9-A5A0-4A9C-86A6-44896BB3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C8D0D7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C8D0D7"/>
                </a:solidFill>
                <a:latin typeface="Aptos"/>
                <a:ea typeface="Aptos"/>
                <a:cs typeface="Aptos"/>
              </a:rPr>
              <a:t>На телефоне остаются четыре вещи: название храма, меню, «Главное» и ближайшая служба. Остальное начинается после первого экрана.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01D19-066E-4DD2-8D50-EE6A28C3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FFFDFA"/>
                </a:solidFill>
                <a:latin typeface="Georgia"/>
                <a:ea typeface="Georgia"/>
                <a:cs typeface="Georgia"/>
              </a:defRPr>
            </a:pPr>
            <a:r>
              <a:rPr sz="2400" b="0" i="0">
                <a:solidFill>
                  <a:srgbClr val="FFFDFA"/>
                </a:solidFill>
                <a:latin typeface="Georgia"/>
                <a:ea typeface="Georgia"/>
                <a:cs typeface="Georgia"/>
              </a:rPr>
              <a:t>52 px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E2E6A-5878-4246-942B-92B62E36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EBBC4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EBBC4"/>
                </a:solidFill>
                <a:latin typeface="Aptos"/>
                <a:ea typeface="Aptos"/>
                <a:cs typeface="Aptos"/>
              </a:rPr>
              <a:t>заголовок на mobile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3346EE-58D1-4323-8DDA-294029CE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481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FFFDFA"/>
                </a:solidFill>
                <a:latin typeface="Georgia"/>
                <a:ea typeface="Georgia"/>
                <a:cs typeface="Georgia"/>
              </a:defRPr>
            </a:pPr>
            <a:r>
              <a:rPr sz="2400" b="0" i="0">
                <a:solidFill>
                  <a:srgbClr val="FFFDFA"/>
                </a:solidFill>
                <a:latin typeface="Georgia"/>
                <a:ea typeface="Georgia"/>
                <a:cs typeface="Georgia"/>
              </a:rPr>
              <a:t>18 px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562D7-7A85-4717-93B2-A3CE5575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863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EBBC4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EBBC4"/>
                </a:solidFill>
                <a:latin typeface="Aptos"/>
                <a:ea typeface="Aptos"/>
                <a:cs typeface="Aptos"/>
              </a:rPr>
              <a:t>основной текст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ed3c92023641d8"/>
          <a:srcRect xmlns:a="http://schemas.openxmlformats.org/drawingml/2006/main" l="0" t="8412" r="0" b="84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342900"/>
            <a:ext cx="3429000" cy="6172200"/>
          </a:xfrm>
          <a:prstGeom xmlns:a="http://schemas.openxmlformats.org/drawingml/2006/main" prst="rect">
            <a:avLst/>
          </a:prstGeom>
        </p:spPr>
      </p:pic>
      <p:sp>
        <p:nvSpPr>
          <p:cNvPr id="9" name="mobile-edge">
            <a:extLst xmlns:a="http://schemas.openxmlformats.org/drawingml/2006/main">
              <a:ext uri="{FF2B5EF4-FFF2-40B4-BE49-F238E27FC236}">
                <a16:creationId xmlns:a16="http://schemas.microsoft.com/office/drawing/2014/main" id="{B5B615B1-DC5C-4196-B1CB-ECBFDE80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2900"/>
            <a:ext cx="47625" cy="617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035242FA-041E-4718-B22D-54E5943C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1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5206BF-C035-4E85-B640-EDE18079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AEBBC4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AEBBC4"/>
                </a:solidFill>
                <a:latin typeface="Aptos"/>
                <a:ea typeface="Aptos"/>
                <a:cs typeface="Aptos"/>
              </a:rPr>
              <a:t>Храм святителя Иннокентия · дизайн-система 2.0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778702-C6E7-4946-A7C5-D25AA241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53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FFFDF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DF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259907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822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Основные элементы">
            <a:extLst xmlns:a="http://schemas.openxmlformats.org/drawingml/2006/main">
              <a:ext uri="{FF2B5EF4-FFF2-40B4-BE49-F238E27FC236}">
                <a16:creationId xmlns:a16="http://schemas.microsoft.com/office/drawing/2014/main" id="{F3465DF7-894B-4F33-B2CA-C8087178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2D8D1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2D8D1"/>
                </a:solidFill>
                <a:latin typeface="Aptos"/>
                <a:ea typeface="Aptos"/>
                <a:cs typeface="Aptos"/>
              </a:rPr>
              <a:t>ОСНОВНЫЕ ЭЛЕМЕНТЫ</a:t>
            </a:r>
          </a:p>
        </p:txBody>
      </p:sp>
      <p:sp>
        <p:nvSpPr>
          <p:cNvPr id="2" name="title-Компоненты поддержив">
            <a:extLst xmlns:a="http://schemas.openxmlformats.org/drawingml/2006/main">
              <a:ext uri="{FF2B5EF4-FFF2-40B4-BE49-F238E27FC236}">
                <a16:creationId xmlns:a16="http://schemas.microsoft.com/office/drawing/2014/main" id="{9B9D7E2E-D13D-411E-BE1B-0A32C3CF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0" i="0">
                <a:solidFill>
                  <a:srgbClr val="FFFDFA"/>
                </a:solidFill>
                <a:latin typeface="Georgia"/>
                <a:ea typeface="Georgia"/>
                <a:cs typeface="Georgia"/>
              </a:defRPr>
            </a:pPr>
            <a:r>
              <a:rPr sz="3750" b="0" i="0">
                <a:solidFill>
                  <a:srgbClr val="FFFDFA"/>
                </a:solidFill>
                <a:latin typeface="Georgia"/>
                <a:ea typeface="Georgia"/>
                <a:cs typeface="Georgia"/>
              </a:rPr>
              <a:t>Компоненты поддерживают иерархию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5714343a2f4df9"/>
          <a:stretch xmlns:a="http://schemas.openxmlformats.org/drawingml/2006/main"/>
        </p:blipFill>
        <p:spPr>
          <a:xfrm xmlns:a="http://schemas.openxmlformats.org/drawingml/2006/main">
            <a:off x="1043299" y="1809750"/>
            <a:ext cx="10105402" cy="409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71187-4B60-4CDF-A169-B858A04C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8D0D7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C8D0D7"/>
                </a:solidFill>
                <a:latin typeface="Aptos"/>
                <a:ea typeface="Aptos"/>
                <a:cs typeface="Aptos"/>
              </a:rPr>
              <a:t>Карточка появляется только при выборе между равнозначными объектами.</a:t>
            </a:r>
          </a:p>
        </p:txBody>
      </p:sp>
      <p:sp>
        <p:nvSpPr>
          <p:cNvPr id="5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611E647A-1612-42EC-AD93-C09661E8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1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C0EE3-7B0D-47F8-AEEB-4B05BC9C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AEBBC4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AEBBC4"/>
                </a:solidFill>
                <a:latin typeface="Aptos"/>
                <a:ea typeface="Aptos"/>
                <a:cs typeface="Aptos"/>
              </a:rPr>
              <a:t>Храм святителя Иннокентия · дизайн-система 2.0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1D6AE-4B96-4F45-B634-EB90A192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53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FFFDF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DF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431660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Шаблон · Главная">
            <a:extLst xmlns:a="http://schemas.openxmlformats.org/drawingml/2006/main">
              <a:ext uri="{FF2B5EF4-FFF2-40B4-BE49-F238E27FC236}">
                <a16:creationId xmlns:a16="http://schemas.microsoft.com/office/drawing/2014/main" id="{BE11F052-7FD6-495C-8AD7-8CEC9F58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6423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64235"/>
                </a:solidFill>
                <a:latin typeface="Aptos"/>
                <a:ea typeface="Aptos"/>
                <a:cs typeface="Aptos"/>
              </a:rPr>
              <a:t>ШАБЛОН · ГЛАВНАЯ</a:t>
            </a:r>
          </a:p>
        </p:txBody>
      </p:sp>
      <p:sp>
        <p:nvSpPr>
          <p:cNvPr id="2" name="title-«Главное» снова&#10;зада">
            <a:extLst xmlns:a="http://schemas.openxmlformats.org/drawingml/2006/main">
              <a:ext uri="{FF2B5EF4-FFF2-40B4-BE49-F238E27FC236}">
                <a16:creationId xmlns:a16="http://schemas.microsoft.com/office/drawing/2014/main" id="{F6475EB1-D90D-41AD-AF11-420FF91E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476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0" i="0">
                <a:solidFill>
                  <a:srgbClr val="18222D"/>
                </a:solidFill>
                <a:latin typeface="Georgia"/>
                <a:ea typeface="Georgia"/>
                <a:cs typeface="Georgia"/>
              </a:defRPr>
            </a:pPr>
            <a:r>
              <a:rPr sz="3300" b="0" i="0">
                <a:solidFill>
                  <a:srgbClr val="18222D"/>
                </a:solidFill>
                <a:latin typeface="Georgia"/>
                <a:ea typeface="Georgia"/>
                <a:cs typeface="Georgia"/>
              </a:rPr>
              <a:t>«Главное» снова</a:t>
            </a:r>
          </a:p>
          <a:p xmlns:a="http://schemas.openxmlformats.org/drawingml/2006/main">
            <a:pPr algn="l">
              <a:defRPr sz="3300" b="0" i="0">
                <a:solidFill>
                  <a:srgbClr val="18222D"/>
                </a:solidFill>
                <a:latin typeface="Georgia"/>
                <a:ea typeface="Georgia"/>
                <a:cs typeface="Georgia"/>
              </a:defRPr>
            </a:pPr>
            <a:r>
              <a:rPr sz="3300" b="0" i="0">
                <a:solidFill>
                  <a:srgbClr val="18222D"/>
                </a:solidFill>
                <a:latin typeface="Georgia"/>
                <a:ea typeface="Georgia"/>
                <a:cs typeface="Georgia"/>
              </a:rPr>
              <a:t>задаёт повестку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907AC3-81EC-43A2-9A98-BE34B8E5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46535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46535E"/>
                </a:solidFill>
                <a:latin typeface="Aptos"/>
                <a:ea typeface="Aptos"/>
                <a:cs typeface="Aptos"/>
              </a:rPr>
              <a:t>Редактор выбирает материал и срок показа. Ближайшая служба присутствует рядом, но не спорит за внимание.</a:t>
            </a:r>
          </a:p>
        </p:txBody>
      </p:sp>
      <p:sp>
        <p:nvSpPr>
          <p:cNvPr id="4" name="home-template-bg">
            <a:extLst xmlns:a="http://schemas.openxmlformats.org/drawingml/2006/main">
              <a:ext uri="{FF2B5EF4-FFF2-40B4-BE49-F238E27FC236}">
                <a16:creationId xmlns:a16="http://schemas.microsoft.com/office/drawing/2014/main" id="{ADCEEBFE-BEAA-4DC0-A41F-1A560984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9100"/>
            <a:ext cx="5867400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2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be959fa9a4b6c"/>
          <a:stretch xmlns:a="http://schemas.openxmlformats.org/drawingml/2006/main"/>
        </p:blipFill>
        <p:spPr>
          <a:xfrm xmlns:a="http://schemas.openxmlformats.org/drawingml/2006/main">
            <a:off x="5715000" y="1010708"/>
            <a:ext cx="5867400" cy="4074583"/>
          </a:xfrm>
          <a:prstGeom xmlns:a="http://schemas.openxmlformats.org/drawingml/2006/main" prst="rect">
            <a:avLst/>
          </a:prstGeom>
        </p:spPr>
      </p:pic>
      <p:sp>
        <p:nvSpPr>
          <p:cNvPr id="6" name="home-rule">
            <a:extLst xmlns:a="http://schemas.openxmlformats.org/drawingml/2006/main">
              <a:ext uri="{FF2B5EF4-FFF2-40B4-BE49-F238E27FC236}">
                <a16:creationId xmlns:a16="http://schemas.microsoft.com/office/drawing/2014/main" id="{2C94A426-F903-4497-9765-08EA3EA7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ED7BB-37B9-48A4-9AAC-69C4077D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A64235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A64235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43E72-F1EC-41F8-8646-CA05A70E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242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222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8222D"/>
                </a:solidFill>
                <a:latin typeface="Aptos"/>
                <a:ea typeface="Aptos"/>
                <a:cs typeface="Aptos"/>
              </a:rPr>
              <a:t>доминирующая фотография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80522-B857-4078-B5E3-C1DDD9F8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A64235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A64235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540FA-33A0-4193-81DF-9468049A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72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222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8222D"/>
                </a:solidFill>
                <a:latin typeface="Aptos"/>
                <a:ea typeface="Aptos"/>
                <a:cs typeface="Aptos"/>
              </a:rPr>
              <a:t>редакционный материал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20CF41-3D03-416F-A287-886925FB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A64235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A64235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589D2D-9635-4BFA-ACDC-0C120ABE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101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222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8222D"/>
                </a:solidFill>
                <a:latin typeface="Aptos"/>
                <a:ea typeface="Aptos"/>
                <a:cs typeface="Aptos"/>
              </a:rPr>
              <a:t>ближайшая служба</a:t>
            </a:r>
          </a:p>
        </p:txBody>
      </p:sp>
      <p:sp>
        <p:nvSpPr>
          <p:cNvPr id="13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E8447B88-EE9A-4E2B-8F44-38F95DE6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56170A-3DB8-465A-A2DC-1795924B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46535E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46535E"/>
                </a:solidFill>
                <a:latin typeface="Aptos"/>
                <a:ea typeface="Aptos"/>
                <a:cs typeface="Aptos"/>
              </a:rPr>
              <a:t>Храм святителя Иннокентия · дизайн-система 2.0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140EE9-FC75-44E8-A44A-2A76874E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53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8222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8222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043983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Шаблоны внутренних страниц">
            <a:extLst xmlns:a="http://schemas.openxmlformats.org/drawingml/2006/main">
              <a:ext uri="{FF2B5EF4-FFF2-40B4-BE49-F238E27FC236}">
                <a16:creationId xmlns:a16="http://schemas.microsoft.com/office/drawing/2014/main" id="{2D641504-518D-4771-A827-62586B6B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6423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64235"/>
                </a:solidFill>
                <a:latin typeface="Aptos"/>
                <a:ea typeface="Aptos"/>
                <a:cs typeface="Aptos"/>
              </a:rPr>
              <a:t>ШАБЛОНЫ ВНУТРЕННИХ СТРАНИЦ</a:t>
            </a:r>
          </a:p>
        </p:txBody>
      </p:sp>
      <p:sp>
        <p:nvSpPr>
          <p:cNvPr id="2" name="title-Функция и чтение гов">
            <a:extLst xmlns:a="http://schemas.openxmlformats.org/drawingml/2006/main">
              <a:ext uri="{FF2B5EF4-FFF2-40B4-BE49-F238E27FC236}">
                <a16:creationId xmlns:a16="http://schemas.microsoft.com/office/drawing/2014/main" id="{65980B71-F976-4B04-956E-C078333F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18222D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18222D"/>
                </a:solidFill>
                <a:latin typeface="Georgia"/>
                <a:ea typeface="Georgia"/>
                <a:cs typeface="Georgia"/>
              </a:rPr>
              <a:t>Функция и чтение говорят на одном языке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57f9290fa4715"/>
          <a:srcRect xmlns:a="http://schemas.openxmlformats.org/drawingml/2006/main" l="397" t="0" r="3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52600"/>
            <a:ext cx="5334000" cy="373380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27944903354a04"/>
          <a:srcRect xmlns:a="http://schemas.openxmlformats.org/drawingml/2006/main" l="397" t="0" r="3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48400" y="1752600"/>
            <a:ext cx="5334000" cy="3733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454A62-0570-4471-84AF-D65D267D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8222D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8222D"/>
                </a:solidFill>
                <a:latin typeface="Georgia"/>
                <a:ea typeface="Georgia"/>
                <a:cs typeface="Georgia"/>
              </a:rPr>
              <a:t>Расписание: время видно первым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B3F5E-FD64-4B7C-84AB-BF491BA7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6578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8222D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8222D"/>
                </a:solidFill>
                <a:latin typeface="Georgia"/>
                <a:ea typeface="Georgia"/>
                <a:cs typeface="Georgia"/>
              </a:rPr>
              <a:t>Материал: широкая строка и спокойный ритм</a:t>
            </a:r>
          </a:p>
        </p:txBody>
      </p:sp>
      <p:sp>
        <p:nvSpPr>
          <p:cNvPr id="7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08450A55-8973-435B-AE98-71FD9D26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95253-D049-4CAA-8861-FD99518F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46535E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46535E"/>
                </a:solidFill>
                <a:latin typeface="Aptos"/>
                <a:ea typeface="Aptos"/>
                <a:cs typeface="Aptos"/>
              </a:rPr>
              <a:t>Храм святителя Иннокентия · дизайн-система 2.0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A1933-9912-4D82-A38F-99977D62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53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8222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8222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808495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Правила внедрения">
            <a:extLst xmlns:a="http://schemas.openxmlformats.org/drawingml/2006/main">
              <a:ext uri="{FF2B5EF4-FFF2-40B4-BE49-F238E27FC236}">
                <a16:creationId xmlns:a16="http://schemas.microsoft.com/office/drawing/2014/main" id="{2FDFFA1C-E86D-4FE5-AC2C-E7129662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6423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64235"/>
                </a:solidFill>
                <a:latin typeface="Aptos"/>
                <a:ea typeface="Aptos"/>
                <a:cs typeface="Aptos"/>
              </a:rPr>
              <a:t>ПРАВИЛА ВНЕДРЕНИЯ</a:t>
            </a:r>
          </a:p>
        </p:txBody>
      </p:sp>
      <p:sp>
        <p:nvSpPr>
          <p:cNvPr id="2" name="title-Эти ограничения защи">
            <a:extLst xmlns:a="http://schemas.openxmlformats.org/drawingml/2006/main">
              <a:ext uri="{FF2B5EF4-FFF2-40B4-BE49-F238E27FC236}">
                <a16:creationId xmlns:a16="http://schemas.microsoft.com/office/drawing/2014/main" id="{139AA310-EBDD-4237-81C7-7A971940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18222D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18222D"/>
                </a:solidFill>
                <a:latin typeface="Georgia"/>
                <a:ea typeface="Georgia"/>
                <a:cs typeface="Georgia"/>
              </a:rPr>
              <a:t>Эти ограничения защищают систему от возврата к legacy</a:t>
            </a:r>
          </a:p>
        </p:txBody>
      </p:sp>
      <p:sp>
        <p:nvSpPr>
          <p:cNvPr id="3" name="do-panel">
            <a:extLst xmlns:a="http://schemas.openxmlformats.org/drawingml/2006/main">
              <a:ext uri="{FF2B5EF4-FFF2-40B4-BE49-F238E27FC236}">
                <a16:creationId xmlns:a16="http://schemas.microsoft.com/office/drawing/2014/main" id="{83D35CB3-882D-4F49-800B-6061BDC6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953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4" name="do-top">
            <a:extLst xmlns:a="http://schemas.openxmlformats.org/drawingml/2006/main">
              <a:ext uri="{FF2B5EF4-FFF2-40B4-BE49-F238E27FC236}">
                <a16:creationId xmlns:a16="http://schemas.microsoft.com/office/drawing/2014/main" id="{1EEEE656-7F98-4528-A5FB-7DAE8BEE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9D4F7-25A4-48C7-A7D0-70F427FF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18222D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18222D"/>
                </a:solidFill>
                <a:latin typeface="Georgia"/>
                <a:ea typeface="Georgia"/>
                <a:cs typeface="Georgia"/>
              </a:rPr>
              <a:t>Делаем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177A4-E61D-4575-ABE7-FC386545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409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46535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46535E"/>
                </a:solidFill>
                <a:latin typeface="Aptos"/>
                <a:ea typeface="Aptos"/>
                <a:cs typeface="Aptos"/>
              </a:rPr>
              <a:t>• Один сюжет на экран</a:t>
            </a:r>
          </a:p>
          <a:p xmlns:a="http://schemas.openxmlformats.org/drawingml/2006/main">
            <a:pPr algn="l">
              <a:defRPr sz="1500" b="0" i="0">
                <a:solidFill>
                  <a:srgbClr val="46535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46535E"/>
                </a:solidFill>
                <a:latin typeface="Aptos"/>
                <a:ea typeface="Aptos"/>
                <a:cs typeface="Aptos"/>
              </a:rPr>
              <a:t>• Реальные фотографии без масок</a:t>
            </a:r>
          </a:p>
          <a:p xmlns:a="http://schemas.openxmlformats.org/drawingml/2006/main">
            <a:pPr algn="l">
              <a:defRPr sz="1500" b="0" i="0">
                <a:solidFill>
                  <a:srgbClr val="46535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46535E"/>
                </a:solidFill>
                <a:latin typeface="Aptos"/>
                <a:ea typeface="Aptos"/>
                <a:cs typeface="Aptos"/>
              </a:rPr>
              <a:t>• Основной текст 20 px</a:t>
            </a:r>
          </a:p>
          <a:p xmlns:a="http://schemas.openxmlformats.org/drawingml/2006/main">
            <a:pPr algn="l">
              <a:defRPr sz="1500" b="0" i="0">
                <a:solidFill>
                  <a:srgbClr val="46535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46535E"/>
                </a:solidFill>
                <a:latin typeface="Aptos"/>
                <a:ea typeface="Aptos"/>
                <a:cs typeface="Aptos"/>
              </a:rPr>
              <a:t>• «Главное» задаёт редактор</a:t>
            </a:r>
          </a:p>
          <a:p xmlns:a="http://schemas.openxmlformats.org/drawingml/2006/main">
            <a:pPr algn="l">
              <a:defRPr sz="1500" b="0" i="0">
                <a:solidFill>
                  <a:srgbClr val="46535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46535E"/>
                </a:solidFill>
                <a:latin typeface="Aptos"/>
                <a:ea typeface="Aptos"/>
                <a:cs typeface="Aptos"/>
              </a:rPr>
              <a:t>• Проверка на 360 / 768 / 1440 px</a:t>
            </a:r>
          </a:p>
        </p:txBody>
      </p:sp>
      <p:sp>
        <p:nvSpPr>
          <p:cNvPr id="7" name="dont-panel">
            <a:extLst xmlns:a="http://schemas.openxmlformats.org/drawingml/2006/main">
              <a:ext uri="{FF2B5EF4-FFF2-40B4-BE49-F238E27FC236}">
                <a16:creationId xmlns:a16="http://schemas.microsoft.com/office/drawing/2014/main" id="{77C0E4C6-0904-4FF3-A2B9-6F42C66A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81250"/>
            <a:ext cx="55626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A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8" name="dont-top">
            <a:extLst xmlns:a="http://schemas.openxmlformats.org/drawingml/2006/main">
              <a:ext uri="{FF2B5EF4-FFF2-40B4-BE49-F238E27FC236}">
                <a16:creationId xmlns:a16="http://schemas.microsoft.com/office/drawing/2014/main" id="{9E334813-D24B-4506-90B5-68389F11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81250"/>
            <a:ext cx="5562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2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9ABFB-5E91-4023-8BFC-972E78F8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18222D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18222D"/>
                </a:solidFill>
                <a:latin typeface="Georgia"/>
                <a:ea typeface="Georgia"/>
                <a:cs typeface="Georgia"/>
              </a:rPr>
              <a:t>Не делаем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8B5952-509D-4123-8A19-5C9B93AB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46535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46535E"/>
                </a:solidFill>
                <a:latin typeface="Aptos"/>
                <a:ea typeface="Aptos"/>
                <a:cs typeface="Aptos"/>
              </a:rPr>
              <a:t>• Сетки из 4–6 одинаковых карточек</a:t>
            </a:r>
          </a:p>
          <a:p xmlns:a="http://schemas.openxmlformats.org/drawingml/2006/main">
            <a:pPr algn="l">
              <a:defRPr sz="1500" b="0" i="0">
                <a:solidFill>
                  <a:srgbClr val="46535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46535E"/>
                </a:solidFill>
                <a:latin typeface="Aptos"/>
                <a:ea typeface="Aptos"/>
                <a:cs typeface="Aptos"/>
              </a:rPr>
              <a:t>• Подписи мельче 14 px</a:t>
            </a:r>
          </a:p>
          <a:p xmlns:a="http://schemas.openxmlformats.org/drawingml/2006/main">
            <a:pPr algn="l">
              <a:defRPr sz="1500" b="0" i="0">
                <a:solidFill>
                  <a:srgbClr val="46535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46535E"/>
                </a:solidFill>
                <a:latin typeface="Aptos"/>
                <a:ea typeface="Aptos"/>
                <a:cs typeface="Aptos"/>
              </a:rPr>
              <a:t>• Золото как фон кнопок</a:t>
            </a:r>
          </a:p>
          <a:p xmlns:a="http://schemas.openxmlformats.org/drawingml/2006/main">
            <a:pPr algn="l">
              <a:defRPr sz="1500" b="0" i="0">
                <a:solidFill>
                  <a:srgbClr val="46535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46535E"/>
                </a:solidFill>
                <a:latin typeface="Aptos"/>
                <a:ea typeface="Aptos"/>
                <a:cs typeface="Aptos"/>
              </a:rPr>
              <a:t>• Градиент вместо фотографии</a:t>
            </a:r>
          </a:p>
          <a:p xmlns:a="http://schemas.openxmlformats.org/drawingml/2006/main">
            <a:pPr algn="l">
              <a:defRPr sz="1500" b="0" i="0">
                <a:solidFill>
                  <a:srgbClr val="46535E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46535E"/>
                </a:solidFill>
                <a:latin typeface="Aptos"/>
                <a:ea typeface="Aptos"/>
                <a:cs typeface="Aptos"/>
              </a:rPr>
              <a:t>• Последнюю новость вместо важного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CFDA30-87EA-4280-8C43-2663F457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7D2F27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7D2F27"/>
                </a:solidFill>
                <a:latin typeface="Aptos"/>
                <a:ea typeface="Aptos"/>
                <a:cs typeface="Aptos"/>
              </a:rPr>
              <a:t>Следующий шаг: применить утверждённую систему к публичному сайту и отдельной модели CMS «Главное».</a:t>
            </a:r>
          </a:p>
        </p:txBody>
      </p:sp>
      <p:sp>
        <p:nvSpPr>
          <p:cNvPr id="12" name="footer-rule-12">
            <a:extLst xmlns:a="http://schemas.openxmlformats.org/drawingml/2006/main">
              <a:ext uri="{FF2B5EF4-FFF2-40B4-BE49-F238E27FC236}">
                <a16:creationId xmlns:a16="http://schemas.microsoft.com/office/drawing/2014/main" id="{EF34DC49-F019-463F-BFCC-8F39BA18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D0A026-BC82-4499-ABFC-2A5951A6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46535E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46535E"/>
                </a:solidFill>
                <a:latin typeface="Aptos"/>
                <a:ea typeface="Aptos"/>
                <a:cs typeface="Aptos"/>
              </a:rPr>
              <a:t>Храм святителя Иннокентия · дизайн-система 2.0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D41D2-BB62-404D-A552-A42435E2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532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8222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8222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97411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2026-07-12T13:39:19.2010000Z</dcterms:created>
  <dcterms:modified xsi:type="dcterms:W3CDTF">2026-07-12T13:39:19.2010000Z</dcterms:modified>
</coreProperties>
</file>